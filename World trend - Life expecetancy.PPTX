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0BA3A-32B2-24EB-E4DA-8FEDD58E62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B952E8-6BA3-5A2B-6FB8-BE1BAE06F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68FE0-5FBF-2BA9-0A6E-8092623E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EF89B-FEBE-5524-E908-2E4C6DAB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FB2FD-388F-EA32-1A8B-D73C07E61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2225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F506-C13A-E341-1B62-9BD594439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8C16E-FDEF-3ED3-99DF-2E6E652A3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BDED-F248-45B5-0C78-946437534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A2B5B-EFFD-89EB-0F92-D9400D36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7222F-08F9-2032-7AED-BABCB5C36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9749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0ABB-27C2-8A04-E695-75419244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281B4-0650-7ED6-6BFE-F3D0E6A89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6386D-23C0-818B-EACF-0292553F1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8A0FD-B88C-9958-1CCB-C345D588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4C68E-1A56-6C85-D2F9-AEA1A1A7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2375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ED783-EBE7-67A7-BB05-A17C79987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5285-CF37-BD6E-03D4-F50307F78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CC41FD-E514-7938-FF86-6EEDC4A6B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863DF-54F2-1F73-19DB-0025BD627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3DD6D-A552-A626-264C-B617B205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4B903-E752-BDBD-5A3A-ABB97709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55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E157-BD65-2FEF-D5BA-78BF9AA1A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71EA16-2E62-330B-0690-FBE0577E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01BA5-DCA6-9493-E0C1-B9E9064FE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0F7840-123F-679F-8816-EE2C0A274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8CD0E-D378-EB82-E2BD-062B95CED1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AE66A-F7F8-B9B4-0949-BF4721EA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B99C3A-A485-7F55-4EDF-3E8B16695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CA79DF-FCD6-422A-742F-6792C0F7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3875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FACA-9981-1FFE-D460-BBBCD65A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CEEE89-B37F-8CEE-C49B-34EDC6323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C472E-D41F-B26B-6944-18790AD2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714C3-F869-29D8-CA4B-B0EDC107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2422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A8BB1-878B-9711-DA7E-6F4422C3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B8AFCB-27F3-07DB-7612-9D619052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7FA6A-EFDF-1237-BAAF-9EB6C2AFE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1799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FF2D-6287-5596-EF51-CF395771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20B1-A3CF-EBBA-6503-BF3AD3828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CFDC6-FC1A-1F8A-87F2-3E42F8AD07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8ECE1-25DC-33FD-FBBC-A2C6B4F3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B0FAC-9644-C2EC-058D-D6A7D848E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5CF76-F172-0A26-F4AE-3D02C1DE7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26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E43F7-90ED-EE59-2274-F5CA3D7A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F5E44-46F5-23BA-CB23-D8AE1646D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74AA6-B090-5AE9-F5AC-F9CC723B6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85AE0-EC69-CC39-C6D2-946282EA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16F13-BF08-0777-DD9B-F388C2F6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6C220-2390-7E5C-1CEC-098FD9EA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7117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FC062-DC7D-9414-4863-F49886EC0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6EF69-B17A-5CEB-D7F2-60D23A31A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BA04D-8E78-D960-6B85-D50ED79E5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AB99A-6A54-4FE5-D198-808CDE6AC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F8A5-6649-D02E-05F2-824CF122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332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5BEEF-0AD8-F94E-1F12-3A35BD67F6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39BE6-FDA3-088E-527C-9FB819DAF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6443-73A5-E358-7BFA-C6B8821C0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0B82A-CDDD-4CF8-1ECC-4481398C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9FCC4-F304-E7A9-D2AB-0D60D93D0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542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B8E34-75E7-E2E4-1B49-457811230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5470-FDC4-DFFF-0A3C-D332047B8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48736-9313-487C-84D1-3B749111C0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84DBCC-94EE-48AD-94FF-0DE51136AAC0}" type="datetimeFigureOut">
              <a:rPr lang="en-ZA" smtClean="0"/>
              <a:t>2024/09/24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5281-AA6E-5BD0-76A1-B70E7F631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2A032-67A6-6180-09E9-22A7992C0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3515C7-6BC0-4D03-8CE6-CB076587DF9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182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9F3CC-F912-76E5-024B-67309686C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7574" y="1651847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ZA" sz="4800" dirty="0">
                <a:solidFill>
                  <a:srgbClr val="FFFFFF"/>
                </a:solidFill>
              </a:rPr>
              <a:t>World trends</a:t>
            </a:r>
          </a:p>
        </p:txBody>
      </p:sp>
    </p:spTree>
    <p:extLst>
      <p:ext uri="{BB962C8B-B14F-4D97-AF65-F5344CB8AC3E}">
        <p14:creationId xmlns:p14="http://schemas.microsoft.com/office/powerpoint/2010/main" val="322325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119E17-D46C-AC98-24CE-A6B71C12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Life Expectancy vs Fertility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B4816-7C71-6A1B-1A3B-27C29840F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1900"/>
              <a:t>You are required to produce a scatterplot depicting Life Expectancy (y-axis) and Fertility Rate (x-axis) statistics by Country.</a:t>
            </a:r>
          </a:p>
          <a:p>
            <a:r>
              <a:rPr lang="en-US" sz="1900"/>
              <a:t>The scatterplot needs to also be categorised by Countries’ Regions</a:t>
            </a:r>
          </a:p>
          <a:p>
            <a:r>
              <a:rPr lang="en-US" sz="1900"/>
              <a:t>You have been supplied with data for 2 years: 1960 and 2013 and you are required to produce a visualisation for each of these years. Some data has been provided in a csv file, some - in R vectors. </a:t>
            </a:r>
          </a:p>
          <a:p>
            <a:r>
              <a:rPr lang="en-US" sz="1900"/>
              <a:t>The csv file contains combined data for both years. All data manipulations have to be performed in R (not in excel) because this project may be audited at a later stage. </a:t>
            </a:r>
          </a:p>
          <a:p>
            <a:r>
              <a:rPr lang="en-US" sz="1900"/>
              <a:t>You have also been requested to provide insights into how the two periods compare</a:t>
            </a:r>
            <a:endParaRPr lang="en-ZA" sz="1900"/>
          </a:p>
        </p:txBody>
      </p:sp>
    </p:spTree>
    <p:extLst>
      <p:ext uri="{BB962C8B-B14F-4D97-AF65-F5344CB8AC3E}">
        <p14:creationId xmlns:p14="http://schemas.microsoft.com/office/powerpoint/2010/main" val="1271319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showing different colored circles&#10;&#10;Description automatically generated">
            <a:extLst>
              <a:ext uri="{FF2B5EF4-FFF2-40B4-BE49-F238E27FC236}">
                <a16:creationId xmlns:a16="http://schemas.microsoft.com/office/drawing/2014/main" id="{5C0D3D57-5017-E7BF-C3AF-623F210EFD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11" y="457200"/>
            <a:ext cx="1091257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1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 shot of a graph&#10;&#10;Description automatically generated">
            <a:extLst>
              <a:ext uri="{FF2B5EF4-FFF2-40B4-BE49-F238E27FC236}">
                <a16:creationId xmlns:a16="http://schemas.microsoft.com/office/drawing/2014/main" id="{559FAE4A-1C08-3DCA-E572-DD796E33B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8"/>
          <a:stretch/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3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43041E-07C7-A4FD-70DF-9B3059EE1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63FF4-E6F8-761E-8C09-2AAC32AAD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695" y="649480"/>
            <a:ext cx="6997911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Life Expectancy vs Fertility Insights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Over the years, a clear inverse relationship has been observed between life expectancy and fertility rates.</a:t>
            </a:r>
          </a:p>
          <a:p>
            <a:pPr lvl="1"/>
            <a:r>
              <a:rPr lang="en-US" sz="2000" dirty="0"/>
              <a:t>The comparison between 1960 and 2013 shows that :</a:t>
            </a:r>
          </a:p>
          <a:p>
            <a:pPr lvl="2"/>
            <a:r>
              <a:rPr lang="en-US" dirty="0"/>
              <a:t>1960:Countries with higher fertility rates tended to have lower life expectancy</a:t>
            </a:r>
          </a:p>
          <a:p>
            <a:pPr lvl="2"/>
            <a:r>
              <a:rPr lang="en-US" dirty="0"/>
              <a:t>2013: Fertility rates have generally decreased, while life expectancy has significantly increased, reflecting advancements in healthcare and economic development.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/>
              <a:t>Regional trends</a:t>
            </a:r>
          </a:p>
          <a:p>
            <a:pPr lvl="1"/>
            <a:r>
              <a:rPr lang="en-US" sz="2000" dirty="0"/>
              <a:t>Develop nations: Consistently show lower fertility and higher life expectancy across both periods.</a:t>
            </a:r>
          </a:p>
          <a:p>
            <a:pPr lvl="1"/>
            <a:r>
              <a:rPr lang="en-US" sz="2000" dirty="0"/>
              <a:t>Developing nations: While life expectancy has improved, fertility rates remain higher than in developed countries, though they have declined significantly since 1960.</a:t>
            </a:r>
          </a:p>
          <a:p>
            <a:pPr marL="514350" indent="-514350">
              <a:buFont typeface="+mj-lt"/>
              <a:buAutoNum type="arabicPeriod"/>
            </a:pP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20411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CE9B21-B66A-074C-7892-30242145C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ZA" sz="3600">
                <a:solidFill>
                  <a:schemeClr val="tx2"/>
                </a:solidFill>
              </a:rPr>
              <a:t>Implications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E840A1A5-A464-1A6D-8626-158B2973A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The data reflects a global shift towards lower fertility and higher life expectancy, with most regions following this trend albeit at different paces.</a:t>
            </a:r>
          </a:p>
          <a:p>
            <a:r>
              <a:rPr lang="en-US" sz="2000" dirty="0">
                <a:solidFill>
                  <a:schemeClr val="tx2"/>
                </a:solidFill>
              </a:rPr>
              <a:t>These trends are crucial for understanding future population growth, economic development, and the challenges posed by aging populations in some regions.</a:t>
            </a:r>
            <a:endParaRPr lang="en-ZA" sz="20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Graphic 28" descr="Business Growth">
            <a:extLst>
              <a:ext uri="{FF2B5EF4-FFF2-40B4-BE49-F238E27FC236}">
                <a16:creationId xmlns:a16="http://schemas.microsoft.com/office/drawing/2014/main" id="{5D29795B-9CA2-B1BB-893B-BF6E7038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91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74250-F586-FE9E-DF49-8084A6D31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ZA" sz="3400" b="1">
                <a:solidFill>
                  <a:srgbClr val="FFFFFF"/>
                </a:solidFill>
              </a:rPr>
              <a:t>Future Considerations</a:t>
            </a:r>
            <a:endParaRPr lang="en-ZA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BA10-A2F9-A442-5781-846237DD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As life expectancy continues to rise and fertility rates drop, nations will need to address issues related to aging populations, healthcare sustainability, and workforce shortages.</a:t>
            </a:r>
          </a:p>
          <a:p>
            <a:pPr marL="0" indent="0">
              <a:buNone/>
            </a:pP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719274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326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World trends</vt:lpstr>
      <vt:lpstr>Life Expectancy vs Fertility</vt:lpstr>
      <vt:lpstr>PowerPoint Presentation</vt:lpstr>
      <vt:lpstr>PowerPoint Presentation</vt:lpstr>
      <vt:lpstr>Conclusion</vt:lpstr>
      <vt:lpstr>Implications</vt:lpstr>
      <vt:lpstr>Future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mulamba</dc:creator>
  <cp:lastModifiedBy>jonathan mulamba</cp:lastModifiedBy>
  <cp:revision>2</cp:revision>
  <dcterms:created xsi:type="dcterms:W3CDTF">2024-09-17T17:55:41Z</dcterms:created>
  <dcterms:modified xsi:type="dcterms:W3CDTF">2024-09-24T07:02:26Z</dcterms:modified>
</cp:coreProperties>
</file>